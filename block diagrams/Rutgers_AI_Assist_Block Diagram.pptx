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lford" userId="54ec3222809bc7fa" providerId="LiveId" clId="{8E6580D4-04D5-4BCE-9A0F-446E28215936}"/>
    <pc:docChg chg="custSel modSld">
      <pc:chgData name="Paul Wilford" userId="54ec3222809bc7fa" providerId="LiveId" clId="{8E6580D4-04D5-4BCE-9A0F-446E28215936}" dt="2026-03-28T22:38:24.882" v="238" actId="20577"/>
      <pc:docMkLst>
        <pc:docMk/>
      </pc:docMkLst>
      <pc:sldChg chg="addSp modSp mod">
        <pc:chgData name="Paul Wilford" userId="54ec3222809bc7fa" providerId="LiveId" clId="{8E6580D4-04D5-4BCE-9A0F-446E28215936}" dt="2026-03-28T22:38:24.882" v="238" actId="20577"/>
        <pc:sldMkLst>
          <pc:docMk/>
          <pc:sldMk cId="56321924" sldId="256"/>
        </pc:sldMkLst>
        <pc:spChg chg="mod">
          <ac:chgData name="Paul Wilford" userId="54ec3222809bc7fa" providerId="LiveId" clId="{8E6580D4-04D5-4BCE-9A0F-446E28215936}" dt="2026-03-28T22:36:46.953" v="206" actId="20577"/>
          <ac:spMkLst>
            <pc:docMk/>
            <pc:sldMk cId="56321924" sldId="256"/>
            <ac:spMk id="26" creationId="{AF269F75-658F-B741-EB3A-332DE5288D35}"/>
          </ac:spMkLst>
        </pc:spChg>
        <pc:spChg chg="mod">
          <ac:chgData name="Paul Wilford" userId="54ec3222809bc7fa" providerId="LiveId" clId="{8E6580D4-04D5-4BCE-9A0F-446E28215936}" dt="2026-03-28T22:38:24.882" v="238" actId="20577"/>
          <ac:spMkLst>
            <pc:docMk/>
            <pc:sldMk cId="56321924" sldId="256"/>
            <ac:spMk id="35" creationId="{7E99E183-1878-916E-A1FC-7568BD90A1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068A-7BDF-2F28-A134-1BDAC929D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7FF86-C9F6-EDB5-B854-DA388535D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72323-F7F6-7182-69A5-810DDEAB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D6A9-90ED-0473-27A7-050B6C39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47EE-DF40-488E-6EA5-226A6B1B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8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E9E-DA36-70F1-1FF9-F5E04516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A947-D9EF-77C0-DC9A-27D11CC8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17583-F542-CB9A-08B0-3B1A9787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B35D-3FFC-36A3-1DC2-09B34EFB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4834-3E4E-DBE8-2AD6-EFE3D2B6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5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FB99-6E4E-1D48-9FC9-9ED25365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33494-229F-BB8A-A556-8E1E888E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E9FA9-A37D-CF67-68E9-3A8810C2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3348-69CA-EFED-29CB-9BECD045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BBBE7-5800-203C-412B-7CD53EAD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6A6E-32DB-65B0-5F8F-F10C1643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A7EE-CB53-0847-A907-1CF39DC8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F6783-6BF5-9DAA-6544-B300CD0C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DFD09-CF5F-305B-2DF6-946E2ACA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4F218-4CE7-7DF3-5A0B-C254BCF2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1A36-5145-C92B-6C1E-596CC010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BA47-E787-2158-9BEA-C4C9614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E2985-46B2-294F-2133-65E638358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59618-4BCF-2E92-0856-7C53DAB3F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D5AC5-0933-E183-4E9E-3AFD1816A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73B2C-C304-7D62-1526-1F18AD6B4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293A1-849C-498C-52E0-609A4BB9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B7BFD-9183-5457-8834-337CF476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285D2-B41D-522A-DE88-A595F369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4D43-2E59-E603-260C-44F6DE45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1B9C7-AA01-95D3-8F4D-05A03E48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D92B1-E63F-4A92-B6FE-20E11CB5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03F50-1B5D-89F4-C0A9-799BD462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C9F4A-6E5E-0372-6A9E-21E8CE18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36F91-E5CA-D9D9-2A96-3D689106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595DB-46D5-647C-32F3-085DAAA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C819-0DB1-D912-C027-7454357A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41B2-A7DA-3C69-FEB5-161491C1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69E3F-A83C-5B8F-D575-9B1EBF404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7AB9A-C765-3D95-9116-7E5EFC2F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85AE5-C10E-0C84-033B-BFA31966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941A9-BC66-F3DA-17E6-EE0E4E72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5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2FC5-2F33-17EA-9237-946DEE44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27889-D772-B4BB-B34A-A10CCAD4A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5911F-361E-0A4C-8532-6291870AB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191C6-71BC-DD9B-769D-5D92E537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458AC-D29F-D932-F2B8-1AD4AAA2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B48A-A118-9BAA-7357-9DCA2796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82A1-E33C-C82D-7D43-0BAD89C9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4D095-97B0-ACFB-7FA4-598196FC1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FB4C-C177-2442-F4F2-F0A43C91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C1F65-149F-62FA-D977-2B8E2996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B73E4-E1A8-0B60-249F-6E7B962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77C27-AB70-D9C3-683A-D70EF621A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32446-BFEA-DE3C-F3DD-0F4E074B4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7633-7742-11AB-A742-A872028C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681D-FB35-95CC-FBAA-6E89C712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F2C9-CF47-BC57-2829-78AC10D9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73FF57-26BF-0DFF-23A5-78E08C7B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5F23-40DB-3549-6EAD-6FF98184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608B-B657-AAE0-3989-15405DD5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347B-F7ED-81DC-3444-7F9E65E0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D925-5056-5575-3404-23FC34AD2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5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C1AD-F0A5-48C3-E8E8-87AC7653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11479"/>
            <a:ext cx="4322064" cy="419291"/>
          </a:xfrm>
        </p:spPr>
        <p:txBody>
          <a:bodyPr>
            <a:normAutofit fontScale="90000"/>
          </a:bodyPr>
          <a:lstStyle/>
          <a:p>
            <a:r>
              <a:rPr lang="en-US" sz="2400" u="sng" dirty="0"/>
              <a:t>Rutgers AI Assist    Block diagram</a:t>
            </a:r>
          </a:p>
        </p:txBody>
      </p:sp>
      <p:pic>
        <p:nvPicPr>
          <p:cNvPr id="5" name="Graphic 4" descr="Person eating with solid fill">
            <a:extLst>
              <a:ext uri="{FF2B5EF4-FFF2-40B4-BE49-F238E27FC236}">
                <a16:creationId xmlns:a16="http://schemas.microsoft.com/office/drawing/2014/main" id="{BC754150-06C1-79B2-C46A-7F91D2988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528" y="3250933"/>
            <a:ext cx="569495" cy="569495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24D5968E-3546-C0AF-2A81-2E031F27D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02" y="2886376"/>
            <a:ext cx="660334" cy="660334"/>
          </a:xfrm>
          <a:prstGeom prst="rect">
            <a:avLst/>
          </a:prstGeom>
        </p:spPr>
      </p:pic>
      <p:pic>
        <p:nvPicPr>
          <p:cNvPr id="9" name="Graphic 8" descr="Smart Phone with solid fill">
            <a:extLst>
              <a:ext uri="{FF2B5EF4-FFF2-40B4-BE49-F238E27FC236}">
                <a16:creationId xmlns:a16="http://schemas.microsoft.com/office/drawing/2014/main" id="{4367B594-2656-5D7D-5D80-C98CDA909D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118" y="3546710"/>
            <a:ext cx="242236" cy="207354"/>
          </a:xfrm>
          <a:prstGeom prst="rect">
            <a:avLst/>
          </a:prstGeom>
        </p:spPr>
      </p:pic>
      <p:pic>
        <p:nvPicPr>
          <p:cNvPr id="11" name="Graphic 10" descr="Tablet with solid fill">
            <a:extLst>
              <a:ext uri="{FF2B5EF4-FFF2-40B4-BE49-F238E27FC236}">
                <a16:creationId xmlns:a16="http://schemas.microsoft.com/office/drawing/2014/main" id="{8CFEF9B4-51FD-D6A8-E69F-5C85ABDFE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023" y="3533876"/>
            <a:ext cx="397042" cy="397042"/>
          </a:xfrm>
          <a:prstGeom prst="rect">
            <a:avLst/>
          </a:prstGeom>
        </p:spPr>
      </p:pic>
      <p:sp>
        <p:nvSpPr>
          <p:cNvPr id="14" name="Cylinder 13">
            <a:extLst>
              <a:ext uri="{FF2B5EF4-FFF2-40B4-BE49-F238E27FC236}">
                <a16:creationId xmlns:a16="http://schemas.microsoft.com/office/drawing/2014/main" id="{DE806E46-51CF-5105-2FE9-818C925F03C2}"/>
              </a:ext>
            </a:extLst>
          </p:cNvPr>
          <p:cNvSpPr/>
          <p:nvPr/>
        </p:nvSpPr>
        <p:spPr>
          <a:xfrm>
            <a:off x="1264118" y="2502169"/>
            <a:ext cx="1003594" cy="538096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noFill/>
              </a:rPr>
              <a:t>Cl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204BD-1E59-9CC6-D22D-8EEE67B09127}"/>
              </a:ext>
            </a:extLst>
          </p:cNvPr>
          <p:cNvSpPr txBox="1"/>
          <p:nvPr/>
        </p:nvSpPr>
        <p:spPr>
          <a:xfrm>
            <a:off x="1433282" y="2623744"/>
            <a:ext cx="78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Client Browser</a:t>
            </a:r>
          </a:p>
          <a:p>
            <a:r>
              <a:rPr lang="en-US" sz="700" dirty="0"/>
              <a:t>Program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93A514-18B5-24AB-C832-B641932A9E3F}"/>
              </a:ext>
            </a:extLst>
          </p:cNvPr>
          <p:cNvCxnSpPr>
            <a:cxnSpLocks/>
          </p:cNvCxnSpPr>
          <p:nvPr/>
        </p:nvCxnSpPr>
        <p:spPr>
          <a:xfrm>
            <a:off x="3474720" y="2732487"/>
            <a:ext cx="34472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E6B0E3-AEFD-093D-4852-5BEC2E589137}"/>
              </a:ext>
            </a:extLst>
          </p:cNvPr>
          <p:cNvSpPr txBox="1"/>
          <p:nvPr/>
        </p:nvSpPr>
        <p:spPr>
          <a:xfrm>
            <a:off x="3739487" y="2254412"/>
            <a:ext cx="323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– </a:t>
            </a:r>
            <a:r>
              <a:rPr lang="en-US" dirty="0" err="1"/>
              <a:t>Websocket</a:t>
            </a:r>
            <a:r>
              <a:rPr lang="en-US" dirty="0"/>
              <a:t> Connection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FE74033B-DD23-CC09-2E02-41E3DE8EA588}"/>
              </a:ext>
            </a:extLst>
          </p:cNvPr>
          <p:cNvSpPr/>
          <p:nvPr/>
        </p:nvSpPr>
        <p:spPr>
          <a:xfrm>
            <a:off x="1624564" y="3161840"/>
            <a:ext cx="660334" cy="883662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ABA310-ACC2-7F9D-67F9-DF76F85E9AD7}"/>
              </a:ext>
            </a:extLst>
          </p:cNvPr>
          <p:cNvSpPr txBox="1"/>
          <p:nvPr/>
        </p:nvSpPr>
        <p:spPr>
          <a:xfrm>
            <a:off x="1624564" y="3315877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Thread ID1</a:t>
            </a:r>
          </a:p>
          <a:p>
            <a:r>
              <a:rPr lang="en-US" sz="800" dirty="0"/>
              <a:t>Thread ID2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6168EC0F-3D79-57FD-3D22-A6DD08CF3B67}"/>
              </a:ext>
            </a:extLst>
          </p:cNvPr>
          <p:cNvSpPr/>
          <p:nvPr/>
        </p:nvSpPr>
        <p:spPr>
          <a:xfrm>
            <a:off x="7817620" y="1978928"/>
            <a:ext cx="3472214" cy="212626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4801A2-E14D-C857-A7AA-CBB80BED3810}"/>
              </a:ext>
            </a:extLst>
          </p:cNvPr>
          <p:cNvSpPr txBox="1"/>
          <p:nvPr/>
        </p:nvSpPr>
        <p:spPr>
          <a:xfrm>
            <a:off x="10219464" y="4319808"/>
            <a:ext cx="1100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Housed in Digital Ocean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8C03CA3A-DE36-6CB4-CBB7-6890A83E18A8}"/>
              </a:ext>
            </a:extLst>
          </p:cNvPr>
          <p:cNvSpPr/>
          <p:nvPr/>
        </p:nvSpPr>
        <p:spPr>
          <a:xfrm>
            <a:off x="8034586" y="2608131"/>
            <a:ext cx="1155936" cy="1322787"/>
          </a:xfrm>
          <a:prstGeom prst="can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Dong’s</a:t>
            </a:r>
          </a:p>
          <a:p>
            <a:pPr algn="ctr"/>
            <a:r>
              <a:rPr lang="en-US" sz="1200" dirty="0"/>
              <a:t>AI-Assist</a:t>
            </a:r>
          </a:p>
          <a:p>
            <a:pPr algn="ctr"/>
            <a:r>
              <a:rPr lang="en-US" sz="1200" dirty="0"/>
              <a:t>Program</a:t>
            </a:r>
          </a:p>
          <a:p>
            <a:pPr algn="ctr"/>
            <a:r>
              <a:rPr lang="en-US" sz="1200" dirty="0"/>
              <a:t>(Python Server)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269F75-658F-B741-EB3A-332DE5288D35}"/>
              </a:ext>
            </a:extLst>
          </p:cNvPr>
          <p:cNvSpPr/>
          <p:nvPr/>
        </p:nvSpPr>
        <p:spPr>
          <a:xfrm>
            <a:off x="8280720" y="2100812"/>
            <a:ext cx="2005400" cy="248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API to ChatGPT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ADC041-91A3-C2DA-DCAB-D5BBC8B6C62F}"/>
              </a:ext>
            </a:extLst>
          </p:cNvPr>
          <p:cNvSpPr/>
          <p:nvPr/>
        </p:nvSpPr>
        <p:spPr>
          <a:xfrm>
            <a:off x="9570240" y="650744"/>
            <a:ext cx="1709928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ChatGPT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8C3866-C9D2-70A0-143F-21DFC3A2B1C7}"/>
              </a:ext>
            </a:extLst>
          </p:cNvPr>
          <p:cNvCxnSpPr/>
          <p:nvPr/>
        </p:nvCxnSpPr>
        <p:spPr>
          <a:xfrm flipV="1">
            <a:off x="9076464" y="1394980"/>
            <a:ext cx="1042416" cy="6985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D4948E-A0A5-88C0-E39A-BA03798CAEEB}"/>
              </a:ext>
            </a:extLst>
          </p:cNvPr>
          <p:cNvCxnSpPr>
            <a:cxnSpLocks/>
            <a:endCxn id="25" idx="1"/>
          </p:cNvCxnSpPr>
          <p:nvPr/>
        </p:nvCxnSpPr>
        <p:spPr>
          <a:xfrm flipH="1">
            <a:off x="8612554" y="2323069"/>
            <a:ext cx="285601" cy="2850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CA26B-198B-DD5E-EC66-E5B1216293C9}"/>
              </a:ext>
            </a:extLst>
          </p:cNvPr>
          <p:cNvSpPr/>
          <p:nvPr/>
        </p:nvSpPr>
        <p:spPr>
          <a:xfrm>
            <a:off x="9469656" y="3247640"/>
            <a:ext cx="749808" cy="59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5CF9E9-14DA-9B65-EAC3-5EC18D4F61C7}"/>
              </a:ext>
            </a:extLst>
          </p:cNvPr>
          <p:cNvSpPr txBox="1"/>
          <p:nvPr/>
        </p:nvSpPr>
        <p:spPr>
          <a:xfrm>
            <a:off x="9525405" y="3297745"/>
            <a:ext cx="74892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Thread</a:t>
            </a:r>
          </a:p>
          <a:p>
            <a:r>
              <a:rPr lang="en-US" sz="1050" dirty="0"/>
              <a:t> Log </a:t>
            </a:r>
          </a:p>
          <a:p>
            <a:r>
              <a:rPr lang="en-US" sz="1050" dirty="0"/>
              <a:t>Database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A0CB40-045B-7AD7-E3F4-4396E4E09713}"/>
              </a:ext>
            </a:extLst>
          </p:cNvPr>
          <p:cNvSpPr/>
          <p:nvPr/>
        </p:nvSpPr>
        <p:spPr>
          <a:xfrm>
            <a:off x="10192032" y="3247640"/>
            <a:ext cx="566928" cy="594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Thread </a:t>
            </a:r>
          </a:p>
          <a:p>
            <a:r>
              <a:rPr lang="en-US" sz="1000" dirty="0">
                <a:solidFill>
                  <a:schemeClr val="tx1"/>
                </a:solidFill>
              </a:rPr>
              <a:t>ID Index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7E99E183-1878-916E-A1FC-7568BD90A183}"/>
              </a:ext>
            </a:extLst>
          </p:cNvPr>
          <p:cNvSpPr/>
          <p:nvPr/>
        </p:nvSpPr>
        <p:spPr>
          <a:xfrm>
            <a:off x="8176222" y="4441282"/>
            <a:ext cx="960120" cy="101498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Chat Server</a:t>
            </a:r>
          </a:p>
          <a:p>
            <a:pPr algn="ctr"/>
            <a:r>
              <a:rPr lang="en-US" sz="1100" dirty="0"/>
              <a:t>Monitor and email .</a:t>
            </a:r>
            <a:r>
              <a:rPr lang="en-US" sz="1100" dirty="0" err="1"/>
              <a:t>py</a:t>
            </a:r>
            <a:r>
              <a:rPr lang="en-US" sz="1100" dirty="0"/>
              <a:t> suite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766819-B59D-BBFA-3DE5-4907E031E50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8418096" y="3942584"/>
            <a:ext cx="238186" cy="4986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7364692-609F-FE20-4E55-4DC2AC393A09}"/>
              </a:ext>
            </a:extLst>
          </p:cNvPr>
          <p:cNvSpPr txBox="1"/>
          <p:nvPr/>
        </p:nvSpPr>
        <p:spPr>
          <a:xfrm>
            <a:off x="7417983" y="4042405"/>
            <a:ext cx="8627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Websocket</a:t>
            </a:r>
            <a:endParaRPr lang="en-US" sz="1050" dirty="0"/>
          </a:p>
          <a:p>
            <a:r>
              <a:rPr lang="en-US" sz="1050" dirty="0"/>
              <a:t>Connection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3BBDF-1816-1919-87B2-DEE737D7A7EF}"/>
              </a:ext>
            </a:extLst>
          </p:cNvPr>
          <p:cNvSpPr txBox="1"/>
          <p:nvPr/>
        </p:nvSpPr>
        <p:spPr>
          <a:xfrm>
            <a:off x="10358742" y="1417061"/>
            <a:ext cx="15156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How does ChatGPT know the thread history?   I guess it “maintains it”</a:t>
            </a:r>
          </a:p>
        </p:txBody>
      </p:sp>
      <p:sp>
        <p:nvSpPr>
          <p:cNvPr id="4" name="Flowchart: Internal Storage 3">
            <a:extLst>
              <a:ext uri="{FF2B5EF4-FFF2-40B4-BE49-F238E27FC236}">
                <a16:creationId xmlns:a16="http://schemas.microsoft.com/office/drawing/2014/main" id="{FB91D716-348F-FBD4-288E-B1A476FAF38C}"/>
              </a:ext>
            </a:extLst>
          </p:cNvPr>
          <p:cNvSpPr/>
          <p:nvPr/>
        </p:nvSpPr>
        <p:spPr>
          <a:xfrm>
            <a:off x="10637520" y="5373904"/>
            <a:ext cx="958088" cy="836904"/>
          </a:xfrm>
          <a:prstGeom prst="flowChartInternalStorag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0164B-033F-E6C4-C9F4-C4540EA19773}"/>
              </a:ext>
            </a:extLst>
          </p:cNvPr>
          <p:cNvSpPr txBox="1"/>
          <p:nvPr/>
        </p:nvSpPr>
        <p:spPr>
          <a:xfrm>
            <a:off x="10822639" y="5669280"/>
            <a:ext cx="7729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Back-Up</a:t>
            </a:r>
          </a:p>
          <a:p>
            <a:r>
              <a:rPr lang="en-US" sz="1100" dirty="0"/>
              <a:t>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BC5EC-C0FB-924A-9288-308BB23BE1D7}"/>
              </a:ext>
            </a:extLst>
          </p:cNvPr>
          <p:cNvSpPr txBox="1"/>
          <p:nvPr/>
        </p:nvSpPr>
        <p:spPr>
          <a:xfrm>
            <a:off x="8034586" y="5792356"/>
            <a:ext cx="172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Purge database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4A4B06-138C-2CB6-BEDC-8160412A5571}"/>
              </a:ext>
            </a:extLst>
          </p:cNvPr>
          <p:cNvCxnSpPr>
            <a:cxnSpLocks/>
          </p:cNvCxnSpPr>
          <p:nvPr/>
        </p:nvCxnSpPr>
        <p:spPr>
          <a:xfrm flipV="1">
            <a:off x="9448917" y="4262624"/>
            <a:ext cx="276420" cy="152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CBB1EB-F499-FAB4-D1A6-3BEFC5983271}"/>
              </a:ext>
            </a:extLst>
          </p:cNvPr>
          <p:cNvSpPr txBox="1"/>
          <p:nvPr/>
        </p:nvSpPr>
        <p:spPr>
          <a:xfrm>
            <a:off x="880337" y="1970670"/>
            <a:ext cx="2235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Built with “</a:t>
            </a:r>
            <a:r>
              <a:rPr lang="en-US" sz="1050" i="1" dirty="0" err="1"/>
              <a:t>DeepChat</a:t>
            </a:r>
            <a:r>
              <a:rPr lang="en-US" sz="1050" i="1" dirty="0"/>
              <a:t>” to embed chat window in SHP  website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0051C-E4A6-8D75-4C38-D078764249C1}"/>
              </a:ext>
            </a:extLst>
          </p:cNvPr>
          <p:cNvSpPr txBox="1"/>
          <p:nvPr/>
        </p:nvSpPr>
        <p:spPr>
          <a:xfrm>
            <a:off x="8176222" y="1323623"/>
            <a:ext cx="15156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222222"/>
                </a:solidFill>
                <a:latin typeface="Arial" panose="020B0604020202020204" pitchFamily="34" charset="0"/>
              </a:rPr>
              <a:t>P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ython </a:t>
            </a:r>
            <a:r>
              <a:rPr lang="en-US" sz="1000" i="1" dirty="0">
                <a:solidFill>
                  <a:srgbClr val="222222"/>
                </a:solidFill>
                <a:latin typeface="Arial" panose="020B0604020202020204" pitchFamily="34" charset="0"/>
              </a:rPr>
              <a:t>S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erver talks to </a:t>
            </a:r>
            <a:r>
              <a:rPr lang="en-US" sz="1000" i="1" dirty="0">
                <a:solidFill>
                  <a:srgbClr val="222222"/>
                </a:solidFill>
                <a:latin typeface="Arial" panose="020B0604020202020204" pitchFamily="34" charset="0"/>
              </a:rPr>
              <a:t>C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hatGPT directly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632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Rutgers AI Assist    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Wilford</dc:creator>
  <cp:lastModifiedBy>Paul Wilford</cp:lastModifiedBy>
  <cp:revision>2</cp:revision>
  <dcterms:created xsi:type="dcterms:W3CDTF">2026-02-11T21:11:21Z</dcterms:created>
  <dcterms:modified xsi:type="dcterms:W3CDTF">2026-03-28T22:38:34Z</dcterms:modified>
</cp:coreProperties>
</file>